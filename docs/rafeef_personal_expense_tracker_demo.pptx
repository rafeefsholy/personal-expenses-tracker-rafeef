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411480"/>
            <a:ext cx="2103120" cy="2103120"/>
          </a:xfrm>
          <a:prstGeom prst="ellipse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5669280"/>
            <a:ext cx="1645920" cy="1645920"/>
          </a:xfrm>
          <a:prstGeom prst="ellipse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640080"/>
            <a:ext cx="1325880" cy="347472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WEEK 6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5943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23262F"/>
                </a:solidFill>
              </a:defRPr>
            </a:pPr>
            <a:r>
              <a:t>Personal Expense</a:t>
            </a:r>
            <a:br/>
            <a:r>
              <a:t>Tracker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5394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36978"/>
                </a:solidFill>
              </a:defRPr>
            </a:pPr>
            <a:r>
              <a:t>A local MCP server for adding, reviewing, updating, deleting,</a:t>
            </a:r>
            <a:br/>
            <a:r>
              <a:t>and summarizing personal expenses.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234440"/>
            <a:ext cx="3474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1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18120" y="1874519"/>
            <a:ext cx="2194560" cy="50292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8120" y="2651760"/>
            <a:ext cx="1463040" cy="502920"/>
          </a:xfrm>
          <a:prstGeom prst="round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3429000"/>
            <a:ext cx="2560320" cy="50292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4389120"/>
            <a:ext cx="292608" cy="502920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58200" y="3977639"/>
            <a:ext cx="292608" cy="914400"/>
          </a:xfrm>
          <a:prstGeom prst="rect">
            <a:avLst/>
          </a:prstGeom>
          <a:solidFill>
            <a:srgbClr val="4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19" y="4206240"/>
            <a:ext cx="292608" cy="685800"/>
          </a:xfrm>
          <a:prstGeom prst="rect">
            <a:avLst/>
          </a:prstGeom>
          <a:solidFill>
            <a:srgbClr val="6F4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64040" y="3657599"/>
            <a:ext cx="292608" cy="1234440"/>
          </a:xfrm>
          <a:prstGeom prst="rect">
            <a:avLst/>
          </a:prstGeom>
          <a:solidFill>
            <a:srgbClr val="49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4983480"/>
            <a:ext cx="1828800" cy="347472"/>
          </a:xfrm>
          <a:prstGeom prst="round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3–5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978"/>
                </a:solidFill>
              </a:defRPr>
            </a:pPr>
            <a:r>
              <a:t>1/5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98848"/>
            <a:ext cx="40233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62F"/>
                </a:solidFill>
              </a:defRPr>
            </a:pPr>
            <a:r>
              <a:t>Rafeef Sholy — Computer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411480"/>
            <a:ext cx="2103120" cy="2103120"/>
          </a:xfrm>
          <a:prstGeom prst="ellipse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5669280"/>
            <a:ext cx="1645920" cy="1645920"/>
          </a:xfrm>
          <a:prstGeom prst="ellipse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62F"/>
                </a:solidFill>
              </a:defRPr>
            </a:pPr>
            <a:r>
              <a:t>The problem → a focused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6012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36978"/>
                </a:solidFill>
              </a:defRPr>
            </a:pPr>
            <a:r>
              <a:t>Why we built the Personal Expense Tracker 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1663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5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783080"/>
            <a:ext cx="1143000" cy="347472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62F"/>
                </a:solidFill>
              </a:defRPr>
            </a:pPr>
            <a:r>
              <a:t>• Expense records can be scattered across notes and messages.</a:t>
            </a:r>
          </a:p>
          <a:p>
            <a:pPr>
              <a:spcAft>
                <a:spcPts val="1000"/>
              </a:spcAft>
              <a:defRPr sz="1500">
                <a:solidFill>
                  <a:srgbClr val="23262F"/>
                </a:solidFill>
              </a:defRPr>
            </a:pPr>
            <a:r>
              <a:t>• Finding a specific expense or calculating totals manually is slow.</a:t>
            </a:r>
          </a:p>
          <a:p>
            <a:pPr>
              <a:spcAft>
                <a:spcPts val="1000"/>
              </a:spcAft>
              <a:defRPr sz="1500">
                <a:solidFill>
                  <a:srgbClr val="23262F"/>
                </a:solidFill>
              </a:defRPr>
            </a:pPr>
            <a:r>
              <a:t>• An AI client should not receive unlimited access to files, commands, or the internet.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2120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5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1783080"/>
            <a:ext cx="1234440" cy="347472"/>
          </a:xfrm>
          <a:prstGeom prst="round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331720"/>
            <a:ext cx="4526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20" b="0">
                <a:solidFill>
                  <a:srgbClr val="23262F"/>
                </a:solidFill>
              </a:defRPr>
            </a:pPr>
            <a:r>
              <a:t>• Five focused MCP tools handle the core expense actions:</a:t>
            </a:r>
          </a:p>
          <a:p>
            <a:pPr>
              <a:spcAft>
                <a:spcPts val="700"/>
              </a:spcAft>
              <a:defRPr sz="1320" b="1">
                <a:solidFill>
                  <a:srgbClr val="6F4CFF"/>
                </a:solidFill>
              </a:defRPr>
            </a:pPr>
            <a:r>
              <a:t>   add_expense • list_expenses • get_spending_summary</a:t>
            </a:r>
          </a:p>
          <a:p>
            <a:pPr>
              <a:spcAft>
                <a:spcPts val="700"/>
              </a:spcAft>
              <a:defRPr sz="1320" b="1">
                <a:solidFill>
                  <a:srgbClr val="6F4CFF"/>
                </a:solidFill>
              </a:defRPr>
            </a:pPr>
            <a:r>
              <a:t>   update_expense • delete_expense</a:t>
            </a:r>
          </a:p>
          <a:p>
            <a:pPr>
              <a:spcAft>
                <a:spcPts val="700"/>
              </a:spcAft>
              <a:defRPr sz="1420" b="0">
                <a:solidFill>
                  <a:srgbClr val="23262F"/>
                </a:solidFill>
              </a:defRPr>
            </a:pPr>
            <a:r>
              <a:t>• Inputs are validated before the expense logic runs.</a:t>
            </a:r>
          </a:p>
          <a:p>
            <a:pPr>
              <a:spcAft>
                <a:spcPts val="700"/>
              </a:spcAft>
              <a:defRPr sz="1420" b="0">
                <a:solidFill>
                  <a:srgbClr val="23262F"/>
                </a:solidFill>
              </a:defRPr>
            </a:pPr>
            <a:r>
              <a:t>• Data stays in one fixed local file: data/expenses.csv.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978"/>
                </a:solidFill>
              </a:defRPr>
            </a:pPr>
            <a: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411480"/>
            <a:ext cx="2103120" cy="2103120"/>
          </a:xfrm>
          <a:prstGeom prst="ellipse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5669280"/>
            <a:ext cx="1645920" cy="1645920"/>
          </a:xfrm>
          <a:prstGeom prst="ellipse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62F"/>
                </a:solidFill>
              </a:defRPr>
            </a:pPr>
            <a:r>
              <a:t>Architecture &amp; project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6012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36978"/>
                </a:solidFill>
              </a:defRPr>
            </a:pPr>
            <a:r>
              <a:t>How the system works, and how the project moved from data to a final demo-ready release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1508760" cy="105156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62F"/>
                </a:solidFill>
              </a:defRPr>
            </a:pPr>
            <a:r>
              <a:t>MCP</a:t>
            </a:r>
            <a:br/>
            <a:r>
              <a:t>Client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2359152"/>
            <a:ext cx="548640" cy="0"/>
          </a:xfrm>
          <a:prstGeom prst="line">
            <a:avLst/>
          </a:prstGeom>
          <a:ln w="25400">
            <a:solidFill>
              <a:srgbClr val="6F4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828800"/>
            <a:ext cx="1508760" cy="1051560"/>
          </a:xfrm>
          <a:prstGeom prst="round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62F"/>
                </a:solidFill>
              </a:defRPr>
            </a:pPr>
            <a:r>
              <a:t>Zod</a:t>
            </a:r>
            <a:br/>
            <a:r>
              <a:t>Validation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34840" y="2359152"/>
            <a:ext cx="548639" cy="0"/>
          </a:xfrm>
          <a:prstGeom prst="line">
            <a:avLst/>
          </a:prstGeom>
          <a:ln w="25400">
            <a:solidFill>
              <a:srgbClr val="49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74920" y="1828800"/>
            <a:ext cx="1508760" cy="105156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62F"/>
                </a:solidFill>
              </a:defRPr>
            </a:pPr>
            <a:r>
              <a:t>Expense</a:t>
            </a:r>
            <a:br/>
            <a:r>
              <a:t>Tool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29400" y="2359152"/>
            <a:ext cx="548640" cy="0"/>
          </a:xfrm>
          <a:prstGeom prst="line">
            <a:avLst/>
          </a:prstGeom>
          <a:ln w="25400">
            <a:solidFill>
              <a:srgbClr val="6F4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9480" y="1828800"/>
            <a:ext cx="1508760" cy="1051560"/>
          </a:xfrm>
          <a:prstGeom prst="round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62F"/>
                </a:solidFill>
              </a:defRPr>
            </a:pPr>
            <a:r>
              <a:t>Data</a:t>
            </a:r>
            <a:br/>
            <a:r>
              <a:t>Logic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23960" y="2359152"/>
            <a:ext cx="548640" cy="0"/>
          </a:xfrm>
          <a:prstGeom prst="line">
            <a:avLst/>
          </a:prstGeom>
          <a:ln w="25400">
            <a:solidFill>
              <a:srgbClr val="49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1828800"/>
            <a:ext cx="1508760" cy="105156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3262F"/>
                </a:solidFill>
              </a:defRPr>
            </a:pPr>
            <a:r>
              <a:t>expenses.csv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106527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51560" y="4069080"/>
            <a:ext cx="1417320" cy="347472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PROJECT JOURNEY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26280"/>
            <a:ext cx="9966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23262F"/>
                </a:solidFill>
              </a:defRPr>
            </a:pPr>
            <a:r>
              <a:t>• Earlier weeks: planned the expense data, connected CSV storage, and built the MCP expense workflow.</a:t>
            </a:r>
          </a:p>
          <a:p>
            <a:pPr>
              <a:spcAft>
                <a:spcPts val="700"/>
              </a:spcAft>
              <a:defRPr sz="1320">
                <a:solidFill>
                  <a:srgbClr val="23262F"/>
                </a:solidFill>
              </a:defRPr>
            </a:pPr>
            <a:r>
              <a:t>• The project expanded into five validated tools for adding, listing, summarizing, updating, and deleting expenses.</a:t>
            </a:r>
          </a:p>
          <a:p>
            <a:pPr>
              <a:spcAft>
                <a:spcPts val="700"/>
              </a:spcAft>
              <a:defRPr sz="1320">
                <a:solidFill>
                  <a:srgbClr val="23262F"/>
                </a:solidFill>
              </a:defRPr>
            </a:pPr>
            <a:r>
              <a:t>• Final stage: tested from a fresh clone, verified build/run, prepared the demo, and published v1.0.0.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978"/>
                </a:solidFill>
              </a:defRPr>
            </a:pPr>
            <a: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411480"/>
            <a:ext cx="2103120" cy="2103120"/>
          </a:xfrm>
          <a:prstGeom prst="ellipse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5669280"/>
            <a:ext cx="1645920" cy="1645920"/>
          </a:xfrm>
          <a:prstGeom prst="ellipse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62F"/>
                </a:solidFill>
              </a:defRPr>
            </a:pPr>
            <a:r>
              <a:t>Live demo: exactly two 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6012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36978"/>
                </a:solidFill>
              </a:defRPr>
            </a:pPr>
            <a:r>
              <a:t>The required live section focuses on a simple add → list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51560" cy="347472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5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16916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1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62F"/>
                </a:solidFill>
              </a:defRPr>
            </a:pPr>
            <a:r>
              <a:t>add_expense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874519"/>
            <a:ext cx="16916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1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62F"/>
                </a:solidFill>
              </a:defRPr>
            </a:pPr>
            <a:r>
              <a:t>list_expenses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74519"/>
            <a:ext cx="16916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1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62F"/>
                </a:solidFill>
              </a:defRPr>
            </a:pPr>
            <a:r>
              <a:t>get_spending_summary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16916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1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62F"/>
                </a:solidFill>
              </a:defRPr>
            </a:pPr>
            <a:r>
              <a:t>update_expense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560320"/>
            <a:ext cx="169164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1DE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62F"/>
                </a:solidFill>
              </a:defRPr>
            </a:pPr>
            <a:r>
              <a:t>delete_expense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20440"/>
            <a:ext cx="7452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3685032"/>
            <a:ext cx="1051560" cy="347472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PROMPT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666744"/>
            <a:ext cx="5577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62F"/>
                </a:solidFill>
              </a:defRPr>
            </a:pPr>
            <a:r>
              <a:t>Add a $25 groceries expense for milk and bread on August 16, 2026.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09160"/>
            <a:ext cx="7452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5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4873752"/>
            <a:ext cx="1051560" cy="347472"/>
          </a:xfrm>
          <a:prstGeom prst="round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PROMPT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855464"/>
            <a:ext cx="55778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62F"/>
                </a:solidFill>
              </a:defRPr>
            </a:pPr>
            <a:r>
              <a:t>Show my groceries expenses for August 2026.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3520440"/>
            <a:ext cx="2743200" cy="2103120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262F"/>
                </a:solidFill>
              </a:defRPr>
            </a:pPr>
            <a:r>
              <a:t>Backup prompt</a:t>
            </a:r>
          </a:p>
          <a:p>
            <a:pPr>
              <a:spcBef>
                <a:spcPts val="1000"/>
              </a:spcBef>
              <a:defRPr sz="1250">
                <a:solidFill>
                  <a:srgbClr val="23262F"/>
                </a:solidFill>
              </a:defRPr>
            </a:pPr>
            <a:r>
              <a:t>Summarize August 2026 spending and show the category with the highest total.</a:t>
            </a:r>
          </a:p>
          <a:p>
            <a:pPr>
              <a:spcBef>
                <a:spcPts val="1200"/>
              </a:spcBef>
              <a:defRPr sz="1100" b="1">
                <a:solidFill>
                  <a:srgbClr val="6F4CFF"/>
                </a:solidFill>
              </a:defRPr>
            </a:pPr>
            <a:r>
              <a:t>Tool: get_spending_summary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978"/>
                </a:solidFill>
              </a:defRPr>
            </a:pPr>
            <a: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-411480"/>
            <a:ext cx="2103120" cy="2103120"/>
          </a:xfrm>
          <a:prstGeom prst="ellipse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502920" y="5669280"/>
            <a:ext cx="1645920" cy="1645920"/>
          </a:xfrm>
          <a:prstGeom prst="ellipse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3891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3262F"/>
                </a:solidFill>
              </a:defRPr>
            </a:pPr>
            <a:r>
              <a:t>Next steps &amp; demo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96012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36978"/>
                </a:solidFill>
              </a:defRPr>
            </a:pPr>
            <a:r>
              <a:t>Future improvements after the complete project journey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337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5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874519"/>
            <a:ext cx="502920" cy="502920"/>
          </a:xfrm>
          <a:prstGeom prst="ellipse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4203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62F"/>
                </a:solidFill>
              </a:defRPr>
            </a:pPr>
            <a:r>
              <a:t>Encrypted backup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99232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36978"/>
                </a:solidFill>
              </a:defRPr>
            </a:pPr>
            <a:r>
              <a:t>Optional backup while keeping the local-first design.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337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5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1874519"/>
            <a:ext cx="502920" cy="502920"/>
          </a:xfrm>
          <a:prstGeom prst="ellipse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4203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62F"/>
                </a:solidFill>
              </a:defRPr>
            </a:pPr>
            <a:r>
              <a:t>Better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99232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36978"/>
                </a:solidFill>
              </a:defRPr>
            </a:pPr>
            <a:r>
              <a:t>Clearer spending charts and summaries for users.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33375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5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66760" y="1874519"/>
            <a:ext cx="502920" cy="502920"/>
          </a:xfrm>
          <a:prstGeom prst="ellipse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42032"/>
            <a:ext cx="2788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3262F"/>
                </a:solidFill>
              </a:defRPr>
            </a:pPr>
            <a:r>
              <a:t>Safe CSV import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999232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36978"/>
                </a:solidFill>
              </a:defRPr>
            </a:pPr>
            <a:r>
              <a:t>Preview and validate imported data before writing.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34840"/>
            <a:ext cx="10698480" cy="1143000"/>
          </a:xfrm>
          <a:prstGeom prst="roundRect">
            <a:avLst/>
          </a:prstGeom>
          <a:solidFill>
            <a:srgbClr val="E5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6634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3262F"/>
                </a:solidFill>
              </a:defRPr>
            </a:pPr>
            <a:r>
              <a:t>Takeaway: focused MCP tools + strict validation + safe local storage + bounded permissions.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5852160"/>
            <a:ext cx="2880360" cy="347472"/>
          </a:xfrm>
          <a:prstGeom prst="roundRect">
            <a:avLst/>
          </a:prstGeom>
          <a:solidFill>
            <a:srgbClr val="EB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62F"/>
                </a:solidFill>
              </a:defRPr>
            </a:pPr>
            <a:r>
              <a:t>READY FOR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473952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6978"/>
                </a:solidFill>
              </a:defRPr>
            </a:pPr>
            <a: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